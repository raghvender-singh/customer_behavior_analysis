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League Spartan Bold"/>
      <p:regular r:id="rId201314"/>
    </p:embeddedFont>
    <p:embeddedFont>
      <p:font typeface="Red Hat Text SemiBold"/>
      <p:regular r:id="rId201315"/>
    </p:embeddedFont>
    <p:embeddedFont>
      <p:font typeface="Red Hat Text Bold"/>
      <p:regular r:id="rId201316"/>
    </p:embeddedFont>
    <p:embeddedFont>
      <p:font typeface="Red Hat Tex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examine transaction patterns across 3,900 customer purchases to understand who buys, what categories drive revenue, and where our clearest growth levers 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 3,900 distinct customer transactions. The baseline numbers establish a stable retail footprint: an average cart of $59.76 and a healthy 3.75 customer satisfaction rating across 18 measured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buyers drive more than double the total revenue of female buyers, generating over $157K compared to $75K. This indicates strong existing male engagement while revealing female conversion as a major upside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Clothing anchors the product portfolio at roughly $100K in revenue, followed closely by accessories at $75K. Footwear and outerwear trail significantly, highlighting where cross-merchandising could lift basket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young adults lead overall spending at $62,143, spending across all age groups is remarkably balanced. Each bracket generates at least $55K, showing that our catalog appeals across generations.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3,116 out of 3,900 customers qualify as loyal buyers. Retention is an enormous core strength, whereas only 83 buyers are first-timers, suggesting new customer acquisition needs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27% of customers subscribe, and their cart average of $59.49 is virtually identical to non-subscribers at $59.87. Subscriptions currently capture commitment without driving higher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our five strategic recommendations: scale subscription enrollment, reward the 3,100+ loyal customers, tighten discounting, merchandise top-rated products, and market directly to our strongest demographic brackets.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675623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b="1" spc="-7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Customer Shopping</a:t>
            </a:r>
            <a:endParaRPr lang="en-US" sz="5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200" b="1" spc="-7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Behavior Analysis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09585" y="2132013"/>
            <a:ext cx="337811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398077"/>
            <a:ext cx="736581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Purchase trends, customer segments, and revenue growth levers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906812"/>
            <a:ext cx="736581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Executive Briefing · Portfolio Retail Dataset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3,900 purchases, 18 data points each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826061"/>
            <a:ext cx="1818535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3,900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58786" y="3620492"/>
            <a:ext cx="1818436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3822422"/>
            <a:ext cx="181853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Total recorded purchases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510" y="1826061"/>
            <a:ext cx="1818634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$59.76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2834510" y="3620492"/>
            <a:ext cx="1818634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8" name="Text 6"/>
          <p:cNvSpPr/>
          <p:nvPr/>
        </p:nvSpPr>
        <p:spPr>
          <a:xfrm>
            <a:off x="2834510" y="3822422"/>
            <a:ext cx="181863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Average transaction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10332" y="1826061"/>
            <a:ext cx="1818535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3.75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5110332" y="2848372"/>
            <a:ext cx="1818436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11" name="Text 9"/>
          <p:cNvSpPr/>
          <p:nvPr/>
        </p:nvSpPr>
        <p:spPr>
          <a:xfrm>
            <a:off x="5110332" y="3050302"/>
            <a:ext cx="181853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Average review rating out of 5.0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8786" y="4620578"/>
            <a:ext cx="637018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robust baseline spanning customer demographics, product categories, discount usage, and frequency.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6056" y="2347218"/>
            <a:ext cx="4246853" cy="23888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8786" y="6098381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Transaction database · 3,900 verified customer records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Male customers drive twice the revenue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528385"/>
            <a:ext cx="637018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Total revenue by gender ($)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933178"/>
            <a:ext cx="6370180" cy="362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6056" y="1963876"/>
            <a:ext cx="4246853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2.1×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7386056" y="2986187"/>
            <a:ext cx="4246853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7" name="Text 4"/>
          <p:cNvSpPr/>
          <p:nvPr/>
        </p:nvSpPr>
        <p:spPr>
          <a:xfrm>
            <a:off x="7386056" y="3187799"/>
            <a:ext cx="4246853" cy="1400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D9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Male shoppers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generated $157,890 across the period.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D9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Female shoppers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accounted for $75,191.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86056" y="4714577"/>
            <a:ext cx="424685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Male buyer volume represents the largest revenue concentration in the portfolio.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Customer purchase ledger by demographic segment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Clothing leads revenue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533942"/>
            <a:ext cx="672408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Category revenue ($K)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938734"/>
            <a:ext cx="6724085" cy="3611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39960" y="2323927"/>
            <a:ext cx="389294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CATEGORY ANCHOR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39960" y="2589927"/>
            <a:ext cx="3892949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200" b="1" spc="-104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$100K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739960" y="3382070"/>
            <a:ext cx="3892949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8" name="Text 5"/>
          <p:cNvSpPr/>
          <p:nvPr/>
        </p:nvSpPr>
        <p:spPr>
          <a:xfrm>
            <a:off x="7739960" y="3589238"/>
            <a:ext cx="389294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Clothing accounts for nearly half of total sales volume.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39960" y="3911024"/>
            <a:ext cx="389294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Accessories follow strongly at $75K, while Footwear ($35K) and Outerwear ($20K) represent complementary tiers.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Departmental merchandise sales ledger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Young adults spend the most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576804"/>
            <a:ext cx="654708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Total revenue by age bracket ($)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981597"/>
            <a:ext cx="6547083" cy="3525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62958" y="1981636"/>
            <a:ext cx="4069951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$62,143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7562958" y="3003947"/>
            <a:ext cx="4069851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7" name="Text 4"/>
          <p:cNvSpPr/>
          <p:nvPr/>
        </p:nvSpPr>
        <p:spPr>
          <a:xfrm>
            <a:off x="7562958" y="3206512"/>
            <a:ext cx="40699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Young adults lead aggregate customer spending.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62958" y="3966488"/>
            <a:ext cx="406995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Remarkably, all four demographic brackets contribute evenly between $55K and $62K, demonstrating broad multi-generational appeal.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Customer age demographic cohort summary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80% of customers are loyal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161658"/>
            <a:ext cx="4423657" cy="1061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800" b="1" spc="-176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80%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58786" y="3350617"/>
            <a:ext cx="442365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of all shoppers show repeat loyalty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3868142"/>
            <a:ext cx="4423657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4070072"/>
            <a:ext cx="44236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vast majority of transaction volume comes from established, satisfied patrons returning repeatedly.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9631" y="2238871"/>
          <a:ext cx="6193278" cy="914400"/>
        </p:xfrm>
        <a:graphic>
          <a:graphicData uri="http://schemas.openxmlformats.org/drawingml/2006/table">
            <a:tbl>
              <a:tblPr/>
              <a:tblGrid>
                <a:gridCol w="1857924"/>
                <a:gridCol w="2848896"/>
                <a:gridCol w="1486458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FE8D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Buyer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FE8D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Purchase history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FE8D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Customers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85A3C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Loyal Buyers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25+ prior purchases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3,116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FE8D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Returning Buyers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2 to 24 prior purchases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701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FE8D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New Buyers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First recorded purchase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9D3C6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83</a:t>
                      </a:r>
                      <a:endParaRPr lang="en-US" sz="16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6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39631" y="4436666"/>
            <a:ext cx="6193179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9" name="Text 6"/>
          <p:cNvSpPr/>
          <p:nvPr/>
        </p:nvSpPr>
        <p:spPr>
          <a:xfrm>
            <a:off x="5439631" y="4643834"/>
            <a:ext cx="619327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Total sample: 3,900 customers across three tenure tiers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Customer purchase frequency and tenure distribution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Only 27% subscribe, and spend the same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224822"/>
            <a:ext cx="5662372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27%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subscribed.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58786" y="4019252"/>
            <a:ext cx="2831136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4221817"/>
            <a:ext cx="56623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large untapped pool of 73% non-subscribers remains open for recurring enrollment.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8247" y="2318048"/>
            <a:ext cx="2477331" cy="1913830"/>
          </a:xfrm>
          <a:custGeom>
            <a:avLst/>
            <a:gdLst/>
            <a:ahLst/>
            <a:cxnLst/>
            <a:rect l="l" t="t" r="r" b="b"/>
            <a:pathLst>
              <a:path w="2477331" h="1913830">
                <a:moveTo>
                  <a:pt x="25399" y="0"/>
                </a:moveTo>
                <a:lnTo>
                  <a:pt x="2477331" y="0"/>
                </a:lnTo>
                <a:lnTo>
                  <a:pt x="2477331" y="1913830"/>
                </a:lnTo>
                <a:lnTo>
                  <a:pt x="25399" y="1913830"/>
                </a:lnTo>
                <a:arcTo hR="25400" wR="25399" stAng="5400000" swAng="5400000"/>
                <a:lnTo>
                  <a:pt x="0" y="25400"/>
                </a:lnTo>
                <a:arcTo hR="25400" wR="25399" stAng="10800000" swAng="5400000"/>
                <a:close/>
              </a:path>
            </a:pathLst>
          </a:custGeom>
          <a:solidFill>
            <a:srgbClr val="2A2621"/>
          </a:solidFill>
          <a:ln/>
        </p:spPr>
      </p:sp>
      <p:sp>
        <p:nvSpPr>
          <p:cNvPr id="7" name="Text 5"/>
          <p:cNvSpPr/>
          <p:nvPr/>
        </p:nvSpPr>
        <p:spPr>
          <a:xfrm>
            <a:off x="6932241" y="2551138"/>
            <a:ext cx="22233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9D3C6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32241" y="2812693"/>
            <a:ext cx="1969344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b="1" spc="-8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$59.49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932241" y="3595291"/>
            <a:ext cx="1969244" cy="31651"/>
          </a:xfrm>
          <a:prstGeom prst="roundRect">
            <a:avLst>
              <a:gd name="adj" fmla="val 49998"/>
            </a:avLst>
          </a:prstGeom>
          <a:solidFill>
            <a:srgbClr val="837F77"/>
          </a:solidFill>
          <a:ln/>
        </p:spPr>
      </p:sp>
      <p:sp>
        <p:nvSpPr>
          <p:cNvPr id="10" name="Text 8"/>
          <p:cNvSpPr/>
          <p:nvPr/>
        </p:nvSpPr>
        <p:spPr>
          <a:xfrm>
            <a:off x="6932241" y="3802459"/>
            <a:ext cx="222333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Average order value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55578" y="2318048"/>
            <a:ext cx="2477331" cy="1913830"/>
          </a:xfrm>
          <a:custGeom>
            <a:avLst/>
            <a:gdLst/>
            <a:ahLst/>
            <a:cxnLst/>
            <a:rect l="l" t="t" r="r" b="b"/>
            <a:pathLst>
              <a:path w="2477331" h="1913830">
                <a:moveTo>
                  <a:pt x="0" y="0"/>
                </a:moveTo>
                <a:lnTo>
                  <a:pt x="2451932" y="0"/>
                </a:lnTo>
                <a:arcTo hR="25400" wR="25399" stAng="16200000" swAng="5400000"/>
                <a:lnTo>
                  <a:pt x="2477331" y="1888430"/>
                </a:lnTo>
                <a:arcTo hR="25400" wR="25399" stAng="0" swAng="5400000"/>
                <a:lnTo>
                  <a:pt x="0" y="1913830"/>
                </a:lnTo>
                <a:lnTo>
                  <a:pt x="0" y="0"/>
                </a:lnTo>
                <a:close/>
              </a:path>
            </a:pathLst>
          </a:custGeom>
          <a:solidFill>
            <a:srgbClr val="2A2621"/>
          </a:solidFill>
          <a:ln/>
        </p:spPr>
      </p:sp>
      <p:sp>
        <p:nvSpPr>
          <p:cNvPr id="12" name="Text 10"/>
          <p:cNvSpPr/>
          <p:nvPr/>
        </p:nvSpPr>
        <p:spPr>
          <a:xfrm>
            <a:off x="9409572" y="2551138"/>
            <a:ext cx="22233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9D3C6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NON-SUBSCRIBERS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09572" y="2812693"/>
            <a:ext cx="1969344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b="1" spc="-8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$59.87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9409572" y="3595291"/>
            <a:ext cx="1969244" cy="31651"/>
          </a:xfrm>
          <a:prstGeom prst="roundRect">
            <a:avLst>
              <a:gd name="adj" fmla="val 49998"/>
            </a:avLst>
          </a:prstGeom>
          <a:solidFill>
            <a:srgbClr val="837F77"/>
          </a:solidFill>
          <a:ln/>
        </p:spPr>
      </p:sp>
      <p:sp>
        <p:nvSpPr>
          <p:cNvPr id="15" name="Text 13"/>
          <p:cNvSpPr/>
          <p:nvPr/>
        </p:nvSpPr>
        <p:spPr>
          <a:xfrm>
            <a:off x="9409572" y="3802459"/>
            <a:ext cx="222333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Average order value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8247" y="4358084"/>
            <a:ext cx="495466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Subscribers currently show no premium basket lift over non-subscribers.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8786" y="6098381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Source: Subscription status cohort and average cart value comparison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9228" y="2318048"/>
            <a:ext cx="12700" cy="1913830"/>
          </a:xfrm>
          <a:prstGeom prst="rect">
            <a:avLst/>
          </a:prstGeom>
          <a:solidFill>
            <a:srgbClr val="6A655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Top-rated and most discounted products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274763"/>
            <a:ext cx="5308467" cy="2985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86" y="4449391"/>
            <a:ext cx="53084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TOP RATED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58786" y="4712216"/>
            <a:ext cx="5308467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b="1" spc="-84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3.86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58786" y="5469434"/>
            <a:ext cx="5308368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7" name="Text 4"/>
          <p:cNvSpPr/>
          <p:nvPr/>
        </p:nvSpPr>
        <p:spPr>
          <a:xfrm>
            <a:off x="558786" y="5740579"/>
            <a:ext cx="530846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Gloves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274763"/>
            <a:ext cx="5308467" cy="29859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4449391"/>
            <a:ext cx="53084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MOST DISCOUNTED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24442" y="4712216"/>
            <a:ext cx="5308467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b="1" spc="-84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50%</a:t>
            </a:r>
            <a:pPr algn="l" indent="0" marL="0">
              <a:lnSpc>
                <a:spcPct val="79000"/>
              </a:lnSpc>
              <a:buNone/>
            </a:pPr>
            <a:r>
              <a:rPr lang="en-US" sz="4200" b="1" spc="-84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 </a:t>
            </a:r>
            <a:pPr algn="l" indent="0" marL="0">
              <a:lnSpc>
                <a:spcPct val="79000"/>
              </a:lnSpc>
              <a:buNone/>
            </a:pPr>
            <a:r>
              <a:rPr lang="en-US" sz="2200" b="1" spc="-84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of sales</a:t>
            </a:r>
            <a:endParaRPr lang="en-US" sz="4200" dirty="0"/>
          </a:p>
        </p:txBody>
      </p:sp>
      <p:sp>
        <p:nvSpPr>
          <p:cNvPr id="11" name="Shape 7"/>
          <p:cNvSpPr/>
          <p:nvPr/>
        </p:nvSpPr>
        <p:spPr>
          <a:xfrm>
            <a:off x="6324442" y="5469434"/>
            <a:ext cx="5308368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12" name="Text 8"/>
          <p:cNvSpPr/>
          <p:nvPr/>
        </p:nvSpPr>
        <p:spPr>
          <a:xfrm>
            <a:off x="6324442" y="5740579"/>
            <a:ext cx="530846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Hat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Five moves to grow revenue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416076"/>
            <a:ext cx="81833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FE8D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786" y="2700536"/>
            <a:ext cx="1971030" cy="19050"/>
          </a:xfrm>
          <a:prstGeom prst="rect">
            <a:avLst/>
          </a:prstGeom>
          <a:solidFill>
            <a:srgbClr val="908B81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2845917"/>
            <a:ext cx="19710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E85A3C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PRIORITY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86" y="3112869"/>
            <a:ext cx="197103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Boost subscriptions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8786" y="3533795"/>
            <a:ext cx="197103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Convert the 73% non-subscriber base with exclusive perks.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510" y="2416076"/>
            <a:ext cx="8654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FE8D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510" y="2700536"/>
            <a:ext cx="1971030" cy="19050"/>
          </a:xfrm>
          <a:prstGeom prst="rect">
            <a:avLst/>
          </a:prstGeom>
          <a:solidFill>
            <a:srgbClr val="908B81"/>
          </a:solidFill>
          <a:ln/>
        </p:spPr>
      </p:sp>
      <p:sp>
        <p:nvSpPr>
          <p:cNvPr id="10" name="Text 8"/>
          <p:cNvSpPr/>
          <p:nvPr/>
        </p:nvSpPr>
        <p:spPr>
          <a:xfrm>
            <a:off x="2834510" y="2845917"/>
            <a:ext cx="19710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PRIORITY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510" y="3112869"/>
            <a:ext cx="197103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Reward loyal buyers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510" y="3533795"/>
            <a:ext cx="197103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Introduce VIP tiers for the 3,116 dedicated loyalists.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10233" y="2416076"/>
            <a:ext cx="8693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FE8D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10233" y="2700536"/>
            <a:ext cx="1971130" cy="19050"/>
          </a:xfrm>
          <a:prstGeom prst="rect">
            <a:avLst/>
          </a:prstGeom>
          <a:solidFill>
            <a:srgbClr val="908B81"/>
          </a:solidFill>
          <a:ln/>
        </p:spPr>
      </p:sp>
      <p:sp>
        <p:nvSpPr>
          <p:cNvPr id="15" name="Text 13"/>
          <p:cNvSpPr/>
          <p:nvPr/>
        </p:nvSpPr>
        <p:spPr>
          <a:xfrm>
            <a:off x="5110233" y="2845917"/>
            <a:ext cx="19711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PRIORITY 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10233" y="3112869"/>
            <a:ext cx="197113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Review discount policy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10233" y="3814385"/>
            <a:ext cx="197113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Protect margins on heavily promotional items like hats.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86056" y="2416076"/>
            <a:ext cx="882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FE8D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6056" y="2700536"/>
            <a:ext cx="1971030" cy="19050"/>
          </a:xfrm>
          <a:prstGeom prst="rect">
            <a:avLst/>
          </a:prstGeom>
          <a:solidFill>
            <a:srgbClr val="908B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86056" y="2845917"/>
            <a:ext cx="19710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PRIORITY 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86056" y="3112869"/>
            <a:ext cx="197103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Spotlight top products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86056" y="3814385"/>
            <a:ext cx="197103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Feature top-rated gloves in bundles and front-page displays.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61779" y="2416076"/>
            <a:ext cx="8693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FE8D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61779" y="2700536"/>
            <a:ext cx="1971130" cy="19050"/>
          </a:xfrm>
          <a:prstGeom prst="rect">
            <a:avLst/>
          </a:prstGeom>
          <a:solidFill>
            <a:srgbClr val="908B81"/>
          </a:solidFill>
          <a:ln/>
        </p:spPr>
      </p:sp>
      <p:sp>
        <p:nvSpPr>
          <p:cNvPr id="25" name="Text 23"/>
          <p:cNvSpPr/>
          <p:nvPr/>
        </p:nvSpPr>
        <p:spPr>
          <a:xfrm>
            <a:off x="9661779" y="2845917"/>
            <a:ext cx="19711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PRIORITY 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61779" y="3112869"/>
            <a:ext cx="197113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Target high-revenue ages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61779" y="3814385"/>
            <a:ext cx="197113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Tailor digital campaigns to young adult high spenders.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Action roadmap derived from customer behavior analysis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2026-10-14T11:23:48Z</dcterms:created>
  <dcterms:modified xsi:type="dcterms:W3CDTF">2026-10-14T11:23:48Z</dcterms:modified>
</cp:coreProperties>
</file>